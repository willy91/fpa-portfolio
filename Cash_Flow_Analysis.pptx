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7638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CADCFC"/>
                </a:solidFill>
              </a:rPr>
              <a:t>Tech Company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 Flow &amp; Runway Analysis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</a:rPr>
              <a:t>24-Month Forecast  ·  Series A SaaS  ·  Python-Powered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4343400"/>
            <a:ext cx="2926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Prepared by William McPhaul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75569"/>
                </a:solidFill>
              </a:rPr>
              <a:t>A 24-month cash flow and runway forecast for a Series A B2B SaaS company that recently raised $12M. The company is growing fast but burning cash aggressively — this analysis answers the question that matters most to the founders and board: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E2761"/>
                </a:solidFill>
              </a:rPr>
              <a:t>“How long will our money last?”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3502152" cy="173736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73152" cy="17373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24-Month Forecast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114800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Monthly revenue, costs, and cash projection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07992" y="3383280"/>
            <a:ext cx="3502152" cy="173736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07992" y="3383280"/>
            <a:ext cx="73152" cy="17373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36592" y="361188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Runway Analysis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36592" y="4114800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Months remaining and projected cash-out date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375904" y="3383280"/>
            <a:ext cx="3502152" cy="173736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75904" y="3383280"/>
            <a:ext cx="73152" cy="17373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04504" y="361188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Scenario Insight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04504" y="4114800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Impact of hiring pace on runway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</a:rPr>
              <a:t>LumaFlow · Cash Flow &amp; Runway 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011680"/>
            <a:ext cx="2606040" cy="2377440"/>
          </a:xfrm>
          <a:prstGeom prst="rect">
            <a:avLst/>
          </a:prstGeom>
          <a:solidFill>
            <a:srgbClr val="2730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$11.5M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Starting Cash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47872" y="2011680"/>
            <a:ext cx="2606040" cy="2377440"/>
          </a:xfrm>
          <a:prstGeom prst="rect">
            <a:avLst/>
          </a:prstGeom>
          <a:solidFill>
            <a:srgbClr val="2730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547872" y="24688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~$580K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547872" y="3520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Monthly Net Burn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55664" y="2011680"/>
            <a:ext cx="2606040" cy="2377440"/>
          </a:xfrm>
          <a:prstGeom prst="rect">
            <a:avLst/>
          </a:prstGeom>
          <a:solidFill>
            <a:srgbClr val="2730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55664" y="24688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~14 mo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55664" y="3520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Runway Remaining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363456" y="2011680"/>
            <a:ext cx="2606040" cy="2377440"/>
          </a:xfrm>
          <a:prstGeom prst="rect">
            <a:avLst/>
          </a:prstGeom>
          <a:solidFill>
            <a:srgbClr val="2730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363456" y="24688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 2027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363456" y="3520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Projected Cash-Out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846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</a:rPr>
              <a:t>At the current burn rate, the company has roughly 14 months of runway — cash turns negative in March 2027.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</a:rPr>
              <a:t>LumaFlow · Cash Flow &amp; Runway Analysis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 Runway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Cash balance over the 24-month forecast</a:t>
            </a:r>
            <a:endParaRPr lang="en-US" sz="1400" dirty="0"/>
          </a:p>
        </p:txBody>
      </p:sp>
      <p:pic>
        <p:nvPicPr>
          <p:cNvPr id="4" name="Image 0" descr="/tmp/char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7680960" cy="46085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783080"/>
            <a:ext cx="2834640" cy="29260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686800" y="1783080"/>
            <a:ext cx="73152" cy="2926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91540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</a:rPr>
              <a:t>INSIGHT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915400" y="2468880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</a:rPr>
              <a:t>Cash declines steadily and crosses zero in March 2027 (Month 14). The red line marks the cash-out threshold.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</a:rPr>
              <a:t>LumaFlow · Cash Flow &amp; Runway Analysis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Story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Monthly Recurring Revenue (MRR) over time</a:t>
            </a:r>
            <a:endParaRPr lang="en-US" sz="1400" dirty="0"/>
          </a:p>
        </p:txBody>
      </p:sp>
      <p:pic>
        <p:nvPicPr>
          <p:cNvPr id="4" name="Image 0" descr="/tmp/charts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7680960" cy="46085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783080"/>
            <a:ext cx="2834640" cy="29260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686800" y="1783080"/>
            <a:ext cx="73152" cy="2926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91540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</a:rPr>
              <a:t>INSIGHT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915400" y="2468880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</a:rPr>
              <a:t>MRR grows from $420K to roughly $1.4M over 24 months — strong, accelerating top-line growth.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</a:rPr>
              <a:t>LumaFlow · Cash Flow &amp; Runway Analysis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Burn Accelerates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Revenue vs. costs vs. net burn</a:t>
            </a:r>
            <a:endParaRPr lang="en-US" sz="1400" dirty="0"/>
          </a:p>
        </p:txBody>
      </p:sp>
      <p:pic>
        <p:nvPicPr>
          <p:cNvPr id="4" name="Image 0" descr="/tmp/charts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7680960" cy="46085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783080"/>
            <a:ext cx="2834640" cy="29260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686800" y="1783080"/>
            <a:ext cx="73152" cy="2926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91540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</a:rPr>
              <a:t>INSIGHT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915400" y="2468880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</a:rPr>
              <a:t>Costs outpace revenue as headcount scales. Net burn widens from $580K to $780K per month, draining cash faster over time.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</a:rPr>
              <a:t>LumaFlow · Cash Flow &amp; Runway Analysis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08760" y="16002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75569"/>
                </a:solidFill>
              </a:rPr>
              <a:t>Cash reserves deplete to zero by Month 14 (March 2027).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7432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75569"/>
                </a:solidFill>
              </a:rPr>
              <a:t>Monthly net burn accelerates from $580K to $780K as headcount scales.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931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8862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75569"/>
                </a:solidFill>
              </a:rPr>
              <a:t>The simple “cash ÷ average burn” rule overstates runway by ~3 months versus the dynamic model — because burn is not constant, it grows.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</a:rPr>
              <a:t>LumaFlow · Cash Flow &amp; Runway Analysis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10881360" cy="1325880"/>
          </a:xfrm>
          <a:prstGeom prst="rect">
            <a:avLst/>
          </a:prstGeom>
          <a:solidFill>
            <a:srgbClr val="2730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91440" cy="132588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90195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</a:rPr>
              <a:t>Start fundraising by Month 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359152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Due diligence now takes 6–8 weeks. Begin the raise well before cash runs critically low.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10881360" cy="1325880"/>
          </a:xfrm>
          <a:prstGeom prst="rect">
            <a:avLst/>
          </a:prstGeom>
          <a:solidFill>
            <a:srgbClr val="2730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91440" cy="132588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341071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</a:rPr>
              <a:t>Model a hiring freeze scenario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867912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Slowing headcount growth extends runway by several months and buys negotiating room.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754880"/>
            <a:ext cx="10881360" cy="1325880"/>
          </a:xfrm>
          <a:prstGeom prst="rect">
            <a:avLst/>
          </a:prstGeom>
          <a:solidFill>
            <a:srgbClr val="2730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4754880"/>
            <a:ext cx="91440" cy="132588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91947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</a:rPr>
              <a:t>Target the next round or break-even before Q1 2027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376672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Align the fundraising timeline with the projected cash-out date to avoid a forced raise.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</a:rPr>
              <a:t>LumaFlow · Cash Flow &amp; Runway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428</Words>
  <Application>Microsoft Office PowerPoint</Application>
  <PresentationFormat>Widescreen</PresentationFormat>
  <Paragraphs>71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LumaFlow — Cash Flow &amp; Runway Analysis</dc:title>
  <dc:subject>PptxGenJS Presentation</dc:subject>
  <dc:creator>William McPhaul</dc:creator>
  <cp:lastModifiedBy>William McPhaul</cp:lastModifiedBy>
  <cp:revision>2</cp:revision>
  <dcterms:created xsi:type="dcterms:W3CDTF">2026-05-31T23:11:01Z</dcterms:created>
  <dcterms:modified xsi:type="dcterms:W3CDTF">2026-05-31T23:15:00Z</dcterms:modified>
</cp:coreProperties>
</file>