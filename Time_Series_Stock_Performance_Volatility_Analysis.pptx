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1792" autoAdjust="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379AA-6E3D-4752-910B-D6DB3ECBC5A6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3039D-0BC7-4A1B-B66A-920EF5CB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6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analysis is based on projected 2024 estimates and highlights key trends in revenue growth, margin stability, asset utilization, and capital structure.</a:t>
            </a:r>
          </a:p>
          <a:p>
            <a:r>
              <a:rPr lang="en-US" dirty="0"/>
              <a:t>Use this workbook to gain a clear snapshot of company performance and guide strategic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23039D-0BC7-4A1B-B66A-920EF5CBC2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3F24-EFED-4430-8561-A536ABCEB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B547E-E1DF-EC4C-804C-E8963A2DE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F9DF-1D00-06CD-65CF-E6A32D5C3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F277A-B3D3-3F8B-ACF3-4B89B327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9DA9-F622-85A8-14E9-26388D1C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3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3CB-63DD-B348-2963-60713265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4FB2D-7D20-DA14-80C5-A5DAF047A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B73C-95DA-4FF9-DE51-0EED86D2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30C5D-BE42-62FA-FED2-5D2CAE56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306A-60E0-CC66-70AE-091BFDC3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5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5877-8162-064B-41F8-11D08B04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B20E5-6555-E011-C5C1-7E05295B1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F02C-A465-A31B-6310-5DD40E1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CF56-B685-7229-D3AA-F77F2897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3D65D-C3AF-CC0A-9DAB-7E02A0CE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06D3-3EAC-B9DD-F7D4-34D792E7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2C83-59CA-AF2A-13AC-04B30EFDA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FB5E7-2073-997B-2839-85EF11354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0E38-453A-664D-0FE0-48D39828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F1C0A-B724-A650-8B40-0B923D51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4C328-13C7-9C89-814F-578698A5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4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F9F5-8239-5A64-8964-16D141C7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2D08-70A4-E4CA-61F7-97671CE4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368B1-BF46-CFA0-3841-B5F6BAC3A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7BC4E-14F8-636B-73FB-EAB1D4A68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D0E38-9ECE-DD93-D794-EE5749748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102E7-0193-F6AD-720E-914EED99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EBBB1-0125-E2EB-CC31-736C9A30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F9D99-5A2A-29C1-A3FC-02A1A78E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1B2-BF47-CBDF-EECE-75EA46EF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ECB2D-3711-B4D5-B001-DE1D871C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FE491-9D28-5FA8-A974-0A7F4E67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00621-BD79-1BBF-0919-6A98F457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0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94A57-E452-03B0-8C7C-4C4A2F54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6CBBD-EA56-68B1-6D78-F0833FD6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22EC0-0481-E49F-26A5-DC585F00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03ED-9358-44BC-DC86-65AF14EB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C749-A3B8-37ED-D4C8-8C312968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C3384-E7E4-0484-F379-E916E7ADB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CC0C8-F3E5-2308-538C-5E1A89BB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AAAE-EA0E-3535-F21B-8809675C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E422-224A-85AC-C364-00BB5750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6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D303-2BA1-15AB-63B5-0EA67C431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A4843-86B2-7C03-634F-E38BD3EED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DF026-DBE8-01E7-9009-D5EBD0960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149F2-5DEA-2A20-F1B4-73256AF5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16109-2632-4DF4-3AD9-84586432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ECBDF-F49E-59AA-A4AB-32D47BF1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4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03DF-5096-8BCC-0307-39648449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11D47-5B40-B63E-4620-36988ED28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05721-34FD-186C-329C-84AF51E2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8AD0-BF14-6733-51BD-3A5B1337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3C2E-7314-AE13-B4C7-EB54F03D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1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2307D-BF57-5BCA-02E3-E34147221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BA729-ED76-5884-84D1-D7F2EE7C1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7D59-4F54-3AC9-7750-D67B7841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099E5-9AD6-5769-E445-E4BDEF58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A8CEB-1F3D-EF91-7627-4FE52C99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6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5CA9C-B95F-217A-493E-CECF871C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D3629-8BEF-A8CB-4D4F-E5F51679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6B91-6BB9-5A2D-A6AB-776D81363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290B-2104-4165-BCCC-A62AADE148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9B795-70BC-39B1-3B70-94D5EFB6F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F3F84-AFD3-3F7C-2FDC-4EF2D9C4D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C0D6A-43CE-4C1F-BE48-D354AAA01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1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D116-89CE-3803-9476-EF1848946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363795"/>
            <a:ext cx="10422194" cy="372642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8000" dirty="0"/>
            </a:br>
            <a:r>
              <a:rPr lang="en-US" sz="8000" dirty="0"/>
              <a:t>Analyzing Stock Performance and Volatility</a:t>
            </a:r>
            <a:endParaRPr lang="en-US" sz="8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0BC6-9923-39EB-94B0-D0EA14C2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D4B4-2FC4-FF70-313B-8983ABF4D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0478" y="562155"/>
            <a:ext cx="8908025" cy="59805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65B90-952C-C4A9-4D0D-4B4249C78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926" y="1700981"/>
            <a:ext cx="11613822" cy="3766565"/>
          </a:xfrm>
        </p:spPr>
        <p:txBody>
          <a:bodyPr>
            <a:normAutofit/>
          </a:bodyPr>
          <a:lstStyle/>
          <a:p>
            <a:pPr algn="l"/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/>
              <a:t>Short-term:</a:t>
            </a:r>
            <a:r>
              <a:rPr lang="en-US" sz="2000" dirty="0"/>
              <a:t> Daily stock returns fluctuate randomly, showing no predictable pattern.</a:t>
            </a:r>
          </a:p>
          <a:p>
            <a:pPr algn="l"/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/>
              <a:t>Long-term:</a:t>
            </a:r>
            <a:r>
              <a:rPr lang="en-US" sz="2000" dirty="0"/>
              <a:t> Stock prices tend to follow a random walk with an upward drift, reflecting sustained growth</a:t>
            </a:r>
          </a:p>
          <a:p>
            <a:pPr algn="l"/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/>
              <a:t>Implication:</a:t>
            </a:r>
            <a:r>
              <a:rPr lang="en-US" sz="2000" dirty="0"/>
              <a:t> Forecasting is uncertain in the short term, but long-term trends can still be captured.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6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647B-E72F-D3F8-6AEC-0A0D8FD0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729" y="245097"/>
            <a:ext cx="8983744" cy="433634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Randomness in Stock Returns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5454D-D032-B49E-4E38-C029E8D6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905" y="1348033"/>
            <a:ext cx="8657979" cy="3985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9AFE7D-14FE-A5C7-70B8-AC51972F5142}"/>
              </a:ext>
            </a:extLst>
          </p:cNvPr>
          <p:cNvSpPr txBox="1"/>
          <p:nvPr/>
        </p:nvSpPr>
        <p:spPr>
          <a:xfrm>
            <a:off x="2007910" y="5536381"/>
            <a:ext cx="8107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illustrates how daily stock returns often resemble white noise: random fluctuations around zero with no predictable pattern.</a:t>
            </a:r>
          </a:p>
        </p:txBody>
      </p:sp>
    </p:spTree>
    <p:extLst>
      <p:ext uri="{BB962C8B-B14F-4D97-AF65-F5344CB8AC3E}">
        <p14:creationId xmlns:p14="http://schemas.microsoft.com/office/powerpoint/2010/main" val="82872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C4C5B0F-5FDD-9133-42E2-CAF708933C1F}"/>
              </a:ext>
            </a:extLst>
          </p:cNvPr>
          <p:cNvSpPr txBox="1"/>
          <p:nvPr/>
        </p:nvSpPr>
        <p:spPr>
          <a:xfrm>
            <a:off x="2430926" y="5760722"/>
            <a:ext cx="81070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illustrates how stock prices can be modeled as a random walk with an upward drift. Each day, the price follows the previous value plus a random shock. Over time, this generates a trend with unpredictable short-term fluctuations.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591201-442B-6C08-BBE9-08FAE7530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52" y="1121095"/>
            <a:ext cx="9615340" cy="4436146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E6F1C7F-A8B6-9917-784F-B399FBA7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729" y="245097"/>
            <a:ext cx="8983744" cy="433634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Stock Price Behavior</a:t>
            </a:r>
          </a:p>
        </p:txBody>
      </p:sp>
    </p:spTree>
    <p:extLst>
      <p:ext uri="{BB962C8B-B14F-4D97-AF65-F5344CB8AC3E}">
        <p14:creationId xmlns:p14="http://schemas.microsoft.com/office/powerpoint/2010/main" val="65619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C2E9-B0D6-15F7-6BF9-B905A011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Testing for Dependence in Stock Returns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E1AFC3-6513-4D09-2738-B773544F1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4023" y="1009325"/>
            <a:ext cx="8702550" cy="4839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4A75C1-9EE0-3276-AF69-9F2ECE7EAF59}"/>
              </a:ext>
            </a:extLst>
          </p:cNvPr>
          <p:cNvSpPr txBox="1"/>
          <p:nvPr/>
        </p:nvSpPr>
        <p:spPr>
          <a:xfrm>
            <a:off x="2430926" y="6002861"/>
            <a:ext cx="81070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autocorrelation in returns implies short-term unpredictability.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AR(1) results show minimal persistence, meaning past values have little influence on future returns.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AR(1) estimate close to zero, indicating low persistence in returns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DA24-6370-E0B1-1DC0-9E4B7B25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Takeaways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B93E3-AC14-0202-92F4-2FCA981EA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0655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					</a:t>
            </a:r>
          </a:p>
          <a:p>
            <a:r>
              <a:rPr lang="en-US" dirty="0"/>
              <a:t>Short-term unpredictability: Daily stock returns show very low autocorrelation, meaning past values provide little guidance for forecasting the next period.			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Long-term growth: Despite daily randomness, stock prices can follow a random walk with upward drift, capturing long-term appreciation.			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Volatility dynamics: AR(1) models help test short-term dependence in return volatility, even if in this case persistence is minimal.		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r>
              <a:rPr lang="en-US" dirty="0"/>
              <a:t>Practical implication: Focus should be on long-term trends and volatility management rather than short-term return prediction.		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23239</TotalTime>
  <Words>342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     Analyzing Stock Performance and Volatility</vt:lpstr>
      <vt:lpstr>Executive Summary</vt:lpstr>
      <vt:lpstr>Randomness in Stock Returns</vt:lpstr>
      <vt:lpstr>Modeling Stock Price Behavior</vt:lpstr>
      <vt:lpstr>Testing for Dependence in Stock Returns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McPhaul</dc:creator>
  <cp:lastModifiedBy>William McPhaul</cp:lastModifiedBy>
  <cp:revision>5</cp:revision>
  <dcterms:created xsi:type="dcterms:W3CDTF">2025-08-19T21:02:05Z</dcterms:created>
  <dcterms:modified xsi:type="dcterms:W3CDTF">2025-09-05T21:37:01Z</dcterms:modified>
</cp:coreProperties>
</file>